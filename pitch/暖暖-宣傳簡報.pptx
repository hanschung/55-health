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911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0" y="1920240"/>
            <a:ext cx="2377440" cy="2377440"/>
          </a:xfrm>
          <a:prstGeom prst="ellipse">
            <a:avLst/>
          </a:prstGeom>
          <a:ln w="12700">
            <a:solidFill>
              <a:srgbClr val="E8B69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834640" y="1371600"/>
            <a:ext cx="3474720" cy="3474720"/>
          </a:xfrm>
          <a:prstGeom prst="ellipse">
            <a:avLst/>
          </a:prstGeom>
          <a:ln w="12700">
            <a:solidFill>
              <a:srgbClr val="E8B694">
                <a:alpha val="37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2194560" y="731520"/>
            <a:ext cx="4754880" cy="4754880"/>
          </a:xfrm>
          <a:prstGeom prst="ellipse">
            <a:avLst/>
          </a:prstGeom>
          <a:ln w="12700">
            <a:solidFill>
              <a:srgbClr val="E8B694">
                <a:alpha val="29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463040" y="0"/>
            <a:ext cx="6217920" cy="6217920"/>
          </a:xfrm>
          <a:prstGeom prst="ellipse">
            <a:avLst/>
          </a:prstGeom>
          <a:ln w="12700">
            <a:solidFill>
              <a:srgbClr val="E8B694">
                <a:alpha val="21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0080" y="-822960"/>
            <a:ext cx="7863840" cy="7863840"/>
          </a:xfrm>
          <a:prstGeom prst="ellipse">
            <a:avLst/>
          </a:prstGeom>
          <a:ln w="12700">
            <a:solidFill>
              <a:srgbClr val="E8B694">
                <a:alpha val="13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-274320" y="-1737360"/>
            <a:ext cx="9692640" cy="9692640"/>
          </a:xfrm>
          <a:prstGeom prst="ellipse">
            <a:avLst/>
          </a:prstGeom>
          <a:ln w="12700">
            <a:solidFill>
              <a:srgbClr val="E8B69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0" descr="/Users/hanschung/Desktop/55/public/icon-maskable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960120"/>
            <a:ext cx="1920240" cy="19202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0" y="288036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kern="0" spc="2000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暖暖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0" y="37673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600" dirty="0">
                <a:solidFill>
                  <a:srgbClr val="A895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 U A N N U A 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0" y="41148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陪 55+ </a:t>
            </a:r>
            <a:r>
              <a:rPr lang="en-US" sz="2000" dirty="0" err="1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健康陪伴的</a:t>
            </a:r>
            <a:r>
              <a:rPr lang="en-US" sz="20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AI 管家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0" y="464515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E884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nuan55.com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WHY　·　為什麼需要暖暖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台灣已進入超高齡社會，但工具沒跟上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286000" cy="265176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3D6C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20.8%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3127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65 歲以上人口占比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4930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 5 人就有 1 位長輩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508760"/>
            <a:ext cx="2286000" cy="265176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3D6C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42900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29000" y="2286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95B6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78%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566160" y="3127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子女最擔心的事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34930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爸媽亂吃藥、飲食不均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508760"/>
            <a:ext cx="2286000" cy="265176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3D6C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30936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09360" y="2286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9A44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&lt; 5%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46520" y="3127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健康 App 長輩留存率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34930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字太小、太複雜、學不會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407408"/>
            <a:ext cx="8046720" cy="475488"/>
          </a:xfrm>
          <a:prstGeom prst="roundRect">
            <a:avLst>
              <a:gd name="adj" fmla="val 19231"/>
            </a:avLst>
          </a:prstGeom>
          <a:solidFill>
            <a:srgbClr val="3D2E20"/>
          </a:solidFill>
          <a:ln w="12700">
            <a:solidFill>
              <a:srgbClr val="3D2E2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548640" y="440740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長輩需要的不是更多功能，是「不用學就會用」的陪伴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4773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95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nuan55.com　·　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1463040"/>
            <a:ext cx="2194560" cy="2194560"/>
          </a:xfrm>
          <a:prstGeom prst="ellipse">
            <a:avLst/>
          </a:prstGeom>
          <a:ln w="12700">
            <a:solidFill>
              <a:srgbClr val="E8B69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126480" y="822960"/>
            <a:ext cx="3474720" cy="3474720"/>
          </a:xfrm>
          <a:prstGeom prst="ellipse">
            <a:avLst/>
          </a:prstGeom>
          <a:ln w="12700">
            <a:solidFill>
              <a:srgbClr val="E8B694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5394960" y="91440"/>
            <a:ext cx="4937760" cy="4937760"/>
          </a:xfrm>
          <a:prstGeom prst="ellipse">
            <a:avLst/>
          </a:prstGeom>
          <a:ln w="12700">
            <a:solidFill>
              <a:srgbClr val="E8B694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0" y="-731520"/>
            <a:ext cx="6583680" cy="6583680"/>
          </a:xfrm>
          <a:prstGeom prst="ellipse">
            <a:avLst/>
          </a:prstGeom>
          <a:ln w="12700">
            <a:solidFill>
              <a:srgbClr val="E8B694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WHAT　·　暖暖是什麼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一位住在手機裡的</a:t>
            </a:r>
            <a:endParaRPr lang="en-US" sz="34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貼心健康管家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不用下載、不用打字、不用學。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打開網頁，拍張照片，暖暖就開始照顧您。</a:t>
            </a:r>
            <a:endParaRPr lang="en-US" sz="1500" dirty="0"/>
          </a:p>
        </p:txBody>
      </p:sp>
      <p:pic>
        <p:nvPicPr>
          <p:cNvPr id="9" name="Image 0" descr="/Users/hanschung/Desktop/55/public/icon-maskable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417320"/>
            <a:ext cx="2286000" cy="2286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3794760"/>
            <a:ext cx="1865376" cy="438912"/>
          </a:xfrm>
          <a:prstGeom prst="roundRect">
            <a:avLst>
              <a:gd name="adj" fmla="val 50000"/>
            </a:avLst>
          </a:prstGeom>
          <a:solidFill>
            <a:srgbClr val="E8845A"/>
          </a:solidFill>
          <a:ln w="12700">
            <a:solidFill>
              <a:srgbClr val="E884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548640" y="379476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字超大　好閱讀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514600" y="3794760"/>
            <a:ext cx="1261872" cy="438912"/>
          </a:xfrm>
          <a:prstGeom prst="roundRect">
            <a:avLst>
              <a:gd name="adj" fmla="val 50000"/>
            </a:avLst>
          </a:prstGeom>
          <a:solidFill>
            <a:srgbClr val="E8845A"/>
          </a:solidFill>
          <a:ln w="12700">
            <a:solidFill>
              <a:srgbClr val="E884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2514600" y="379476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一鍵操作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069080" y="3794760"/>
            <a:ext cx="1865376" cy="438912"/>
          </a:xfrm>
          <a:prstGeom prst="roundRect">
            <a:avLst>
              <a:gd name="adj" fmla="val 50000"/>
            </a:avLst>
          </a:prstGeom>
          <a:solidFill>
            <a:srgbClr val="E8845A"/>
          </a:solidFill>
          <a:ln w="12700">
            <a:solidFill>
              <a:srgbClr val="E884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4069080" y="379476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免下載 App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20484" y="3794760"/>
            <a:ext cx="1865376" cy="438912"/>
          </a:xfrm>
          <a:prstGeom prst="roundRect">
            <a:avLst>
              <a:gd name="adj" fmla="val 50000"/>
            </a:avLst>
          </a:prstGeom>
          <a:solidFill>
            <a:srgbClr val="E8845A"/>
          </a:solidFill>
          <a:ln w="12700">
            <a:solidFill>
              <a:srgbClr val="E884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4"/>
          <p:cNvSpPr/>
          <p:nvPr/>
        </p:nvSpPr>
        <p:spPr>
          <a:xfrm>
            <a:off x="6120484" y="379476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台語式親切中文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A77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🌐 用瀏覽器打開 nuan55.com 就能開始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949440" y="4773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95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nuan55.com　·　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HOW　·　三個動作，全部搞定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拍一下，暖暖就懂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286000" cy="288036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3D6C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371600" y="1691640"/>
            <a:ext cx="640080" cy="640080"/>
          </a:xfrm>
          <a:prstGeom prst="ellipse">
            <a:avLst/>
          </a:prstGeom>
          <a:solidFill>
            <a:srgbClr val="FCE4D5"/>
          </a:solidFill>
          <a:ln w="12700">
            <a:solidFill>
              <a:srgbClr val="FCE4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拍照記錄飲食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2907792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15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拍一張菜，AI 自動算出熱量與營養，貼心提醒少鹽少油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115568" y="3858768"/>
            <a:ext cx="1152144" cy="329184"/>
          </a:xfrm>
          <a:prstGeom prst="roundRect">
            <a:avLst>
              <a:gd name="adj" fmla="val 50000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115568" y="3858768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5 秒完成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1463040"/>
            <a:ext cx="2286000" cy="288036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3D6C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251960" y="1691640"/>
            <a:ext cx="640080" cy="640080"/>
          </a:xfrm>
          <a:prstGeom prst="ellipse">
            <a:avLst/>
          </a:prstGeom>
          <a:solidFill>
            <a:srgbClr val="F4D7DC"/>
          </a:solidFill>
          <a:ln w="12700">
            <a:solidFill>
              <a:srgbClr val="F4D7D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251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20440" y="24871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拍藥袋管用藥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30168" y="2907792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15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藥袋一拍，自動讀出藥名用法，時間到提醒吃藥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995928" y="3858768"/>
            <a:ext cx="1152144" cy="329184"/>
          </a:xfrm>
          <a:prstGeom prst="roundRect">
            <a:avLst>
              <a:gd name="adj" fmla="val 50000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995928" y="3858768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不怕忘記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1463040"/>
            <a:ext cx="2286000" cy="288036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3D6C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7132320" y="1691640"/>
            <a:ext cx="640080" cy="640080"/>
          </a:xfrm>
          <a:prstGeom prst="ellipse">
            <a:avLst/>
          </a:prstGeom>
          <a:solidFill>
            <a:srgbClr val="E5EFE2"/>
          </a:solidFill>
          <a:ln w="12700">
            <a:solidFill>
              <a:srgbClr val="E5EFE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71323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🎙️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00800" y="248716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跟暖暖聊聊天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10528" y="2907792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15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真人般的語音對話，陪伴解悶、回答健康問題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76288" y="3858768"/>
            <a:ext cx="1152144" cy="329184"/>
          </a:xfrm>
          <a:prstGeom prst="roundRect">
            <a:avLst>
              <a:gd name="adj" fmla="val 50000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876288" y="3858768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像孫子陪聊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A895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全程不用打字　·　60 歲以上長輩實測 3 分鐘上手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949440" y="4773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95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nuan55.com　·　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D2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2194560"/>
            <a:ext cx="4572000" cy="4572000"/>
          </a:xfrm>
          <a:prstGeom prst="ellipse">
            <a:avLst/>
          </a:prstGeom>
          <a:solidFill>
            <a:srgbClr val="C95E36">
              <a:alpha val="22000"/>
            </a:srgbClr>
          </a:solidFill>
          <a:ln w="12700">
            <a:solidFill>
              <a:srgbClr val="C95E3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6400800" y="-1645920"/>
            <a:ext cx="4114800" cy="4114800"/>
          </a:xfrm>
          <a:prstGeom prst="ellipse">
            <a:avLst/>
          </a:prstGeom>
          <a:solidFill>
            <a:srgbClr val="E8845A">
              <a:alpha val="20000"/>
            </a:srgbClr>
          </a:solidFill>
          <a:ln w="12700">
            <a:solidFill>
              <a:srgbClr val="E884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884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GUARDIAN　·　不只記錄，更會主動守護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長輩不說，暖暖也會替他說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920240" cy="2286000"/>
          </a:xfrm>
          <a:prstGeom prst="roundRect">
            <a:avLst>
              <a:gd name="adj" fmla="val 6190"/>
            </a:avLst>
          </a:prstGeom>
          <a:solidFill>
            <a:srgbClr val="FAF5EC"/>
          </a:solidFill>
          <a:ln w="12700">
            <a:solidFill>
              <a:srgbClr val="FAF5EC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248716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暖暖天天觀察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288036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血壓、吃藥、活動</a:t>
            </a:r>
            <a:endParaRPr lang="en-US" sz="10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每天自動巡邏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50592" y="26060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45A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798064" y="1691640"/>
            <a:ext cx="1920240" cy="2286000"/>
          </a:xfrm>
          <a:prstGeom prst="roundRect">
            <a:avLst>
              <a:gd name="adj" fmla="val 6190"/>
            </a:avLst>
          </a:prstGeom>
          <a:solidFill>
            <a:srgbClr val="FAF5EC"/>
          </a:solidFill>
          <a:ln w="12700">
            <a:solidFill>
              <a:srgbClr val="FAF5EC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2798064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871216" y="248716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發現不對勁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07792" y="288036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血壓飆高、三天沒動靜</a:t>
            </a:r>
            <a:endParaRPr lang="en-US" sz="10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跌倒、忘記吃藥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0016" y="26060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45A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47488" y="1691640"/>
            <a:ext cx="1920240" cy="2286000"/>
          </a:xfrm>
          <a:prstGeom prst="roundRect">
            <a:avLst>
              <a:gd name="adj" fmla="val 6190"/>
            </a:avLst>
          </a:prstGeom>
          <a:solidFill>
            <a:srgbClr val="FAF5EC"/>
          </a:solidFill>
          <a:ln w="12700">
            <a:solidFill>
              <a:srgbClr val="FAF5EC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5047488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📨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120640" y="248716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立刻通知家人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57216" y="288036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子女手機馬上收到</a:t>
            </a:r>
            <a:endParaRPr lang="en-US" sz="10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完整狀況說明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49440" y="26060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845A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296912" y="1691640"/>
            <a:ext cx="1920240" cy="2286000"/>
          </a:xfrm>
          <a:prstGeom prst="roundRect">
            <a:avLst>
              <a:gd name="adj" fmla="val 6190"/>
            </a:avLst>
          </a:prstGeom>
          <a:solidFill>
            <a:srgbClr val="FAF5EC"/>
          </a:solidFill>
          <a:ln w="12700">
            <a:solidFill>
              <a:srgbClr val="FAF5EC"/>
            </a:solidFill>
            <a:prstDash val="solid"/>
          </a:ln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296912" y="1874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🤝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370064" y="2487168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家人及時關心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06640" y="288036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一通電話</a:t>
            </a:r>
            <a:endParaRPr lang="en-US" sz="10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就能化解危機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315968"/>
            <a:ext cx="8046720" cy="502920"/>
          </a:xfrm>
          <a:prstGeom prst="roundRect">
            <a:avLst>
              <a:gd name="adj" fmla="val 18182"/>
            </a:avLst>
          </a:prstGeom>
          <a:solidFill>
            <a:srgbClr val="E8845A"/>
          </a:solidFill>
          <a:ln w="12700">
            <a:solidFill>
              <a:srgbClr val="E884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548640" y="43159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跌倒偵測 · 居家感測 · 異常預警 —— 已實際上線運作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FAMILY　·　給子女的一顆定心丸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爸媽今天好嗎？打開手機就知道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749040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2700">
            <a:solidFill>
              <a:srgbClr val="E3D6C0"/>
            </a:solidFill>
            <a:prstDash val="solid"/>
          </a:ln>
          <a:effectLst>
            <a:outerShdw blurRad="1016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3749040" cy="566928"/>
          </a:xfrm>
          <a:prstGeom prst="rect">
            <a:avLst/>
          </a:prstGeom>
          <a:solidFill>
            <a:srgbClr val="EAF3E7"/>
          </a:solidFill>
          <a:ln w="12700">
            <a:solidFill>
              <a:srgbClr val="EAF3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77240" y="148132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👵 陳美玲　</a:t>
            </a:r>
            <a:r>
              <a:rPr lang="en-US" sz="1100" b="1" dirty="0">
                <a:solidFill>
                  <a:srgbClr val="7AA77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● 今天正常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🍽️  </a:t>
            </a:r>
            <a:r>
              <a:rPr lang="en-US" sz="1150" dirty="0">
                <a:solidFill>
                  <a:srgbClr val="A895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飲食　</a:t>
            </a:r>
            <a:r>
              <a:rPr lang="en-US" sz="12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已記錄 3 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596896"/>
            <a:ext cx="3291840" cy="0"/>
          </a:xfrm>
          <a:prstGeom prst="line">
            <a:avLst/>
          </a:prstGeom>
          <a:noFill/>
          <a:ln w="9525">
            <a:solidFill>
              <a:srgbClr val="E3D6C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777240" y="26334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💊  </a:t>
            </a:r>
            <a:r>
              <a:rPr lang="en-US" sz="1150" dirty="0">
                <a:solidFill>
                  <a:srgbClr val="A895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用藥　</a:t>
            </a:r>
            <a:r>
              <a:rPr lang="en-US" sz="12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2/2 已服用 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054096"/>
            <a:ext cx="3291840" cy="0"/>
          </a:xfrm>
          <a:prstGeom prst="line">
            <a:avLst/>
          </a:prstGeom>
          <a:noFill/>
          <a:ln w="9525">
            <a:solidFill>
              <a:srgbClr val="E3D6C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77240" y="30906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🩺  </a:t>
            </a:r>
            <a:r>
              <a:rPr lang="en-US" sz="1150" dirty="0">
                <a:solidFill>
                  <a:srgbClr val="A895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血壓　</a:t>
            </a:r>
            <a:r>
              <a:rPr lang="en-US" sz="12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125 / 80 穩定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511296"/>
            <a:ext cx="3291840" cy="0"/>
          </a:xfrm>
          <a:prstGeom prst="line">
            <a:avLst/>
          </a:prstGeom>
          <a:noFill/>
          <a:ln w="9525">
            <a:solidFill>
              <a:srgbClr val="E3D6C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777240" y="35478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🏠  </a:t>
            </a:r>
            <a:r>
              <a:rPr lang="en-US" sz="1150" dirty="0">
                <a:solidFill>
                  <a:srgbClr val="A895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居家　</a:t>
            </a:r>
            <a:r>
              <a:rPr lang="en-US" sz="12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客廳有活動 · 26°C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968496"/>
            <a:ext cx="3291840" cy="0"/>
          </a:xfrm>
          <a:prstGeom prst="line">
            <a:avLst/>
          </a:prstGeom>
          <a:noFill/>
          <a:ln w="9525">
            <a:solidFill>
              <a:srgbClr val="E3D6C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77240" y="40050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🧭  </a:t>
            </a:r>
            <a:r>
              <a:rPr lang="en-US" sz="1150" dirty="0">
                <a:solidFill>
                  <a:srgbClr val="A895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幸福指數　</a:t>
            </a:r>
            <a:r>
              <a:rPr lang="en-US" sz="12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78 分（↑3）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618488"/>
            <a:ext cx="384048" cy="384048"/>
          </a:xfrm>
          <a:prstGeom prst="ellipse">
            <a:avLst/>
          </a:prstGeom>
          <a:solidFill>
            <a:srgbClr val="E8845A"/>
          </a:solidFill>
          <a:ln w="12700">
            <a:solidFill>
              <a:srgbClr val="E884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66344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93792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遠端就能看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93792" y="19659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子女在自己手機上，隨時看到爸媽的飲食、用藥、血壓與居家狀況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2606040"/>
            <a:ext cx="384048" cy="384048"/>
          </a:xfrm>
          <a:prstGeom prst="ellipse">
            <a:avLst/>
          </a:prstGeom>
          <a:solidFill>
            <a:srgbClr val="E8845A"/>
          </a:solidFill>
          <a:ln w="12700">
            <a:solidFill>
              <a:srgbClr val="E884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6634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193792" y="25877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異常主動報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93792" y="295351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有狀況第一時間通知，不用天天奪命連環 call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3593592"/>
            <a:ext cx="384048" cy="384048"/>
          </a:xfrm>
          <a:prstGeom prst="ellipse">
            <a:avLst/>
          </a:prstGeom>
          <a:solidFill>
            <a:srgbClr val="E8845A"/>
          </a:solidFill>
          <a:ln w="12700">
            <a:solidFill>
              <a:srgbClr val="E884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663440" y="3593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93792" y="35753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隱私長輩管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93792" y="39410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看得到什麼，由長輩自己決定；尊重是關懷的前提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63440" y="45537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「不是監視，是讓關心剛剛好。」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49440" y="4773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95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nuan55.com　·　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0" y="4023360"/>
            <a:ext cx="4023360" cy="4023360"/>
          </a:xfrm>
          <a:prstGeom prst="ellipse">
            <a:avLst/>
          </a:prstGeom>
          <a:ln w="12700">
            <a:solidFill>
              <a:srgbClr val="E8B694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1737360" y="3200400"/>
            <a:ext cx="5669280" cy="5669280"/>
          </a:xfrm>
          <a:prstGeom prst="ellipse">
            <a:avLst/>
          </a:prstGeom>
          <a:ln w="12700">
            <a:solidFill>
              <a:srgbClr val="E8B694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7498080" cy="7498080"/>
          </a:xfrm>
          <a:prstGeom prst="ellipse">
            <a:avLst/>
          </a:prstGeom>
          <a:ln w="12700">
            <a:solidFill>
              <a:srgbClr val="E8B694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-182880" y="1280160"/>
            <a:ext cx="9509760" cy="9509760"/>
          </a:xfrm>
          <a:prstGeom prst="ellipse">
            <a:avLst/>
          </a:prstGeom>
          <a:ln w="12700">
            <a:solidFill>
              <a:srgbClr val="E8B69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START　·　今天就開始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5836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三步驟，馬上開始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286000" cy="237744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3D6C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417320" y="1298448"/>
            <a:ext cx="548640" cy="548640"/>
          </a:xfrm>
          <a:prstGeom prst="ellipse">
            <a:avLst/>
          </a:prstGeom>
          <a:solidFill>
            <a:srgbClr val="C95E36"/>
          </a:solidFill>
          <a:ln w="31750">
            <a:solidFill>
              <a:srgbClr val="FAF5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41732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打開網址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手機瀏覽器輸入</a:t>
            </a:r>
            <a:endParaRPr lang="en-US" sz="12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nuan55.com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4688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845A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429000" y="1554480"/>
            <a:ext cx="2286000" cy="237744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3D6C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4297680" y="1298448"/>
            <a:ext cx="548640" cy="548640"/>
          </a:xfrm>
          <a:prstGeom prst="ellipse">
            <a:avLst/>
          </a:prstGeom>
          <a:solidFill>
            <a:srgbClr val="C95E36"/>
          </a:solidFill>
          <a:ln w="31750">
            <a:solidFill>
              <a:srgbClr val="FAF5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29768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2900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🔑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520440" y="26974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簡單登入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611880" y="31089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Google 或 Email</a:t>
            </a:r>
            <a:endParaRPr lang="en-US" sz="12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免記密碼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15000" y="24688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8845A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309360" y="1554480"/>
            <a:ext cx="2286000" cy="237744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3D6C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7178040" y="1298448"/>
            <a:ext cx="548640" cy="548640"/>
          </a:xfrm>
          <a:prstGeom prst="ellipse">
            <a:avLst/>
          </a:prstGeom>
          <a:solidFill>
            <a:srgbClr val="C95E36"/>
          </a:solidFill>
          <a:ln w="31750">
            <a:solidFill>
              <a:srgbClr val="FAF5E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7178040" y="1298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0936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📷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400800" y="26974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拍第一張照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492240" y="31089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拍下這一餐</a:t>
            </a:r>
            <a:endParaRPr lang="en-US" sz="12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2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暖暖開始陪伴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2245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💡 子女幫爸媽設定一次，</a:t>
            </a:r>
            <a:r>
              <a:rPr lang="en-US" sz="1400" b="1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之後長輩自己就會用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95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免費開始使用　·　不需信用卡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ln w="12700">
            <a:solidFill>
              <a:srgbClr val="E8B694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2560320" y="274320"/>
            <a:ext cx="4023360" cy="4023360"/>
          </a:xfrm>
          <a:prstGeom prst="ellipse">
            <a:avLst/>
          </a:prstGeom>
          <a:ln w="12700">
            <a:solidFill>
              <a:srgbClr val="E8B69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1828800" y="-457200"/>
            <a:ext cx="5486400" cy="5486400"/>
          </a:xfrm>
          <a:prstGeom prst="ellipse">
            <a:avLst/>
          </a:prstGeom>
          <a:ln w="12700">
            <a:solidFill>
              <a:srgbClr val="E8B694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005840" y="-1280160"/>
            <a:ext cx="7132320" cy="7132320"/>
          </a:xfrm>
          <a:prstGeom prst="ellipse">
            <a:avLst/>
          </a:prstGeom>
          <a:ln w="12700">
            <a:solidFill>
              <a:srgbClr val="E8B694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91440" y="-2194560"/>
            <a:ext cx="8961120" cy="8961120"/>
          </a:xfrm>
          <a:prstGeom prst="ellipse">
            <a:avLst/>
          </a:prstGeom>
          <a:ln w="12700">
            <a:solidFill>
              <a:srgbClr val="E8B694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7" name="Image 0" descr="/Users/hanschung/Desktop/55/public/icon-maskable-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685800"/>
            <a:ext cx="1645920" cy="1645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248716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600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讓關心，剛剛好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0" y="33101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暖暖 NuanNuan　·　陪 55+ 健康變老的 AI 管家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108960" y="3886200"/>
            <a:ext cx="2926080" cy="566928"/>
          </a:xfrm>
          <a:prstGeom prst="roundRect">
            <a:avLst>
              <a:gd name="adj" fmla="val 50000"/>
            </a:avLst>
          </a:prstGeom>
          <a:solidFill>
            <a:srgbClr val="E8845A"/>
          </a:solidFill>
          <a:ln w="12700">
            <a:solidFill>
              <a:srgbClr val="E8845A"/>
            </a:solidFill>
            <a:prstDash val="solid"/>
          </a:ln>
          <a:effectLst>
            <a:outerShdw blurRad="127000" dist="38100" dir="5400000" algn="bl" rotWithShape="0">
              <a:srgbClr val="C95E36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3108960" y="38862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nuan55.com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0" y="468172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A895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合作洽詢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317</Words>
  <Application>Microsoft Macintosh PowerPoint</Application>
  <PresentationFormat>如螢幕大小 (16:9)</PresentationFormat>
  <Paragraphs>121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PingFang TC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暖暖 NuanNuan - 宣傳簡報</dc:title>
  <dc:subject>PptxGenJS Presentation</dc:subject>
  <dc:creator>NuanNuan</dc:creator>
  <cp:lastModifiedBy>鍾志鴻</cp:lastModifiedBy>
  <cp:revision>3</cp:revision>
  <dcterms:created xsi:type="dcterms:W3CDTF">2026-08-06T12:52:27Z</dcterms:created>
  <dcterms:modified xsi:type="dcterms:W3CDTF">2026-08-06T12:57:09Z</dcterms:modified>
</cp:coreProperties>
</file>