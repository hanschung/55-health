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0" y="1920240"/>
            <a:ext cx="2377440" cy="2377440"/>
          </a:xfrm>
          <a:prstGeom prst="ellipse">
            <a:avLst/>
          </a:prstGeom>
          <a:ln w="12700">
            <a:solidFill>
              <a:srgbClr val="E8B694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834640" y="1371600"/>
            <a:ext cx="3474720" cy="3474720"/>
          </a:xfrm>
          <a:prstGeom prst="ellipse">
            <a:avLst/>
          </a:prstGeom>
          <a:ln w="12700">
            <a:solidFill>
              <a:srgbClr val="E8B694">
                <a:alpha val="37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194560" y="731520"/>
            <a:ext cx="4754880" cy="4754880"/>
          </a:xfrm>
          <a:prstGeom prst="ellipse">
            <a:avLst/>
          </a:prstGeom>
          <a:ln w="12700">
            <a:solidFill>
              <a:srgbClr val="E8B694">
                <a:alpha val="29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63040" y="0"/>
            <a:ext cx="6217920" cy="6217920"/>
          </a:xfrm>
          <a:prstGeom prst="ellipse">
            <a:avLst/>
          </a:prstGeom>
          <a:ln w="12700">
            <a:solidFill>
              <a:srgbClr val="E8B694">
                <a:alpha val="21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-822960"/>
            <a:ext cx="7863840" cy="7863840"/>
          </a:xfrm>
          <a:prstGeom prst="ellipse">
            <a:avLst/>
          </a:prstGeom>
          <a:ln w="12700">
            <a:solidFill>
              <a:srgbClr val="E8B694">
                <a:alpha val="13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-274320" y="-1737360"/>
            <a:ext cx="9692640" cy="9692640"/>
          </a:xfrm>
          <a:prstGeom prst="ellipse">
            <a:avLst/>
          </a:prstGeom>
          <a:ln w="12700">
            <a:solidFill>
              <a:srgbClr val="E8B694">
                <a:alpha val="8000"/>
              </a:srgbClr>
            </a:solidFill>
            <a:prstDash val="solid"/>
          </a:ln>
        </p:spPr>
      </p:sp>
      <p:pic>
        <p:nvPicPr>
          <p:cNvPr id="8" name="Image 0" descr="/Users/hanschung/Desktop/55/public/icon-maskable-5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11880" y="960120"/>
            <a:ext cx="1920240" cy="19202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0" y="2880360"/>
            <a:ext cx="9144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spc="2000" kern="0" dirty="0">
                <a:solidFill>
                  <a:srgbClr val="C95E3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暖暖</a:t>
            </a:r>
            <a:endParaRPr lang="en-US" sz="6400" dirty="0"/>
          </a:p>
        </p:txBody>
      </p:sp>
      <p:sp>
        <p:nvSpPr>
          <p:cNvPr id="10" name="Text 7"/>
          <p:cNvSpPr/>
          <p:nvPr/>
        </p:nvSpPr>
        <p:spPr>
          <a:xfrm>
            <a:off x="0" y="376732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600" kern="0" dirty="0">
                <a:solidFill>
                  <a:srgbClr val="A8958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 U A N N U A N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0" y="411480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陪 55+ 健康變老的 AI 管家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0" y="464515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E8845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nuan55.com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5E3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WHY　·　為什麼需要暖暖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台灣已進入超高齡社會，但工具沒跟上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286000" cy="265176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E3D6C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783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📊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22860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95E3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20.8%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85800" y="31272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65 歲以上人口占比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5800" y="349300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 5 人就有 1 位長輩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429000" y="1508760"/>
            <a:ext cx="2286000" cy="265176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E3D6C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429000" y="1783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💊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429000" y="22860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95B6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78%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3566160" y="31272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子女最擔心的事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66160" y="349300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爸媽亂吃藥、飲食不均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309360" y="1508760"/>
            <a:ext cx="2286000" cy="265176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E3D6C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309360" y="1783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📱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309360" y="22860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9A441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&lt; 5%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6446520" y="31272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健康 App 長輩留存率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46520" y="349300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字太小、太複雜、學不會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4407408"/>
            <a:ext cx="8046720" cy="475488"/>
          </a:xfrm>
          <a:prstGeom prst="roundRect">
            <a:avLst>
              <a:gd name="adj" fmla="val 19231"/>
            </a:avLst>
          </a:prstGeom>
          <a:solidFill>
            <a:srgbClr val="3D2E20"/>
          </a:solidFill>
          <a:ln w="12700">
            <a:solidFill>
              <a:srgbClr val="3D2E2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4407408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長輩需要的不是更多功能，是「不用學就會用」的陪伴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949440" y="47731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958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nuan55.com　·　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1463040"/>
            <a:ext cx="2194560" cy="2194560"/>
          </a:xfrm>
          <a:prstGeom prst="ellipse">
            <a:avLst/>
          </a:prstGeom>
          <a:ln w="12700">
            <a:solidFill>
              <a:srgbClr val="E8B694">
                <a:alpha val="4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26480" y="822960"/>
            <a:ext cx="3474720" cy="3474720"/>
          </a:xfrm>
          <a:prstGeom prst="ellipse">
            <a:avLst/>
          </a:prstGeom>
          <a:ln w="12700">
            <a:solidFill>
              <a:srgbClr val="E8B694">
                <a:alpha val="3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394960" y="91440"/>
            <a:ext cx="4937760" cy="4937760"/>
          </a:xfrm>
          <a:prstGeom prst="ellipse">
            <a:avLst/>
          </a:prstGeom>
          <a:ln w="12700">
            <a:solidFill>
              <a:srgbClr val="E8B694">
                <a:alpha val="2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0" y="-731520"/>
            <a:ext cx="6583680" cy="6583680"/>
          </a:xfrm>
          <a:prstGeom prst="ellipse">
            <a:avLst/>
          </a:prstGeom>
          <a:ln w="12700">
            <a:solidFill>
              <a:srgbClr val="E8B694">
                <a:alpha val="1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5E3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WHAT　·　暖暖是什麼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一位住在手機裡的</a:t>
            </a:r>
            <a:endParaRPr lang="en-US" sz="34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貼心健康管家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548640" y="265176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不用下載、不用打字、不用學。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打開網頁，拍張照片，暖暖就開始照顧您。</a:t>
            </a:r>
            <a:endParaRPr lang="en-US" sz="1500" dirty="0"/>
          </a:p>
        </p:txBody>
      </p:sp>
      <p:pic>
        <p:nvPicPr>
          <p:cNvPr id="9" name="Image 0" descr="/Users/hanschung/Desktop/55/public/icon-maskable-5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1417320"/>
            <a:ext cx="2286000" cy="22860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48640" y="3794760"/>
            <a:ext cx="1865376" cy="438912"/>
          </a:xfrm>
          <a:prstGeom prst="roundRect">
            <a:avLst>
              <a:gd name="adj" fmla="val 50000"/>
            </a:avLst>
          </a:prstGeom>
          <a:solidFill>
            <a:srgbClr val="E8845A"/>
          </a:solidFill>
          <a:ln w="12700">
            <a:solidFill>
              <a:srgbClr val="E8845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794760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字超大　好閱讀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2514600" y="3794760"/>
            <a:ext cx="1261872" cy="438912"/>
          </a:xfrm>
          <a:prstGeom prst="roundRect">
            <a:avLst>
              <a:gd name="adj" fmla="val 50000"/>
            </a:avLst>
          </a:prstGeom>
          <a:solidFill>
            <a:srgbClr val="E8845A"/>
          </a:solidFill>
          <a:ln w="12700">
            <a:solidFill>
              <a:srgbClr val="E8845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514600" y="3794760"/>
            <a:ext cx="12618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一鍵操作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4069080" y="3794760"/>
            <a:ext cx="1865376" cy="438912"/>
          </a:xfrm>
          <a:prstGeom prst="roundRect">
            <a:avLst>
              <a:gd name="adj" fmla="val 50000"/>
            </a:avLst>
          </a:prstGeom>
          <a:solidFill>
            <a:srgbClr val="E8845A"/>
          </a:solidFill>
          <a:ln w="12700">
            <a:solidFill>
              <a:srgbClr val="E8845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069080" y="3794760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免下載 App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760720" y="3794760"/>
            <a:ext cx="1865376" cy="438912"/>
          </a:xfrm>
          <a:prstGeom prst="roundRect">
            <a:avLst>
              <a:gd name="adj" fmla="val 50000"/>
            </a:avLst>
          </a:prstGeom>
          <a:solidFill>
            <a:srgbClr val="E8845A"/>
          </a:solidFill>
          <a:ln w="12700">
            <a:solidFill>
              <a:srgbClr val="E8845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760720" y="3794760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台語式親切中文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48640" y="44805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A77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🌐 用瀏覽器打開 nuan55.com 就能開始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949440" y="47731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958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nuan55.com　·　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5E3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HOW　·　三個動作，全部搞定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拍一下，暖暖就懂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286000" cy="288036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E3D6C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71600" y="1691640"/>
            <a:ext cx="640080" cy="640080"/>
          </a:xfrm>
          <a:prstGeom prst="ellipse">
            <a:avLst/>
          </a:prstGeom>
          <a:solidFill>
            <a:srgbClr val="FCE4D5"/>
          </a:solidFill>
          <a:ln w="12700">
            <a:solidFill>
              <a:srgbClr val="FCE4D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7160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📷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248716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95E3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拍照記錄飲食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49808" y="2907792"/>
            <a:ext cx="1883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拍一張菜，AI 自動算出熱量與營養，貼心提醒少鹽少油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1115568" y="3858768"/>
            <a:ext cx="1152144" cy="329184"/>
          </a:xfrm>
          <a:prstGeom prst="roundRect">
            <a:avLst>
              <a:gd name="adj" fmla="val 50000"/>
            </a:avLst>
          </a:prstGeom>
          <a:solidFill>
            <a:srgbClr val="F2E8D5"/>
          </a:solidFill>
          <a:ln w="12700">
            <a:solidFill>
              <a:srgbClr val="F2E8D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15568" y="3858768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5 秒完成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429000" y="1463040"/>
            <a:ext cx="2286000" cy="288036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E3D6C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251960" y="1691640"/>
            <a:ext cx="640080" cy="640080"/>
          </a:xfrm>
          <a:prstGeom prst="ellipse">
            <a:avLst/>
          </a:prstGeom>
          <a:solidFill>
            <a:srgbClr val="F4D7DC"/>
          </a:solidFill>
          <a:ln w="12700">
            <a:solidFill>
              <a:srgbClr val="F4D7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💊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3520440" y="248716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95E3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拍藥袋管用藥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630168" y="2907792"/>
            <a:ext cx="1883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藥袋一拍，自動讀出藥名用法，時間到提醒吃藥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995928" y="3858768"/>
            <a:ext cx="1152144" cy="329184"/>
          </a:xfrm>
          <a:prstGeom prst="roundRect">
            <a:avLst>
              <a:gd name="adj" fmla="val 50000"/>
            </a:avLst>
          </a:prstGeom>
          <a:solidFill>
            <a:srgbClr val="F2E8D5"/>
          </a:solidFill>
          <a:ln w="12700">
            <a:solidFill>
              <a:srgbClr val="F2E8D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95928" y="3858768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不怕忘記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309360" y="1463040"/>
            <a:ext cx="2286000" cy="288036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E3D6C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132320" y="1691640"/>
            <a:ext cx="640080" cy="640080"/>
          </a:xfrm>
          <a:prstGeom prst="ellipse">
            <a:avLst/>
          </a:prstGeom>
          <a:solidFill>
            <a:srgbClr val="E5EFE2"/>
          </a:solidFill>
          <a:ln w="12700">
            <a:solidFill>
              <a:srgbClr val="E5EFE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323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🎙️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400800" y="248716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95E3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跟暖暖聊聊天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510528" y="2907792"/>
            <a:ext cx="1883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真人般的語音對話，陪伴解悶、回答健康問題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876288" y="3858768"/>
            <a:ext cx="1152144" cy="329184"/>
          </a:xfrm>
          <a:prstGeom prst="roundRect">
            <a:avLst>
              <a:gd name="adj" fmla="val 50000"/>
            </a:avLst>
          </a:prstGeom>
          <a:solidFill>
            <a:srgbClr val="F2E8D5"/>
          </a:solidFill>
          <a:ln w="12700">
            <a:solidFill>
              <a:srgbClr val="F2E8D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76288" y="3858768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像孫子陪聊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48640" y="45720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A8958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全程不用打字　·　60 歲以上長輩實測 3 分鐘上手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949440" y="47731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958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nuan55.com　·　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3D2E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2194560"/>
            <a:ext cx="4572000" cy="4572000"/>
          </a:xfrm>
          <a:prstGeom prst="ellipse">
            <a:avLst/>
          </a:prstGeom>
          <a:solidFill>
            <a:srgbClr val="C95E36">
              <a:alpha val="22000"/>
            </a:srgbClr>
          </a:solidFill>
          <a:ln w="12700">
            <a:solidFill>
              <a:srgbClr val="C95E3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-1645920"/>
            <a:ext cx="4114800" cy="4114800"/>
          </a:xfrm>
          <a:prstGeom prst="ellipse">
            <a:avLst/>
          </a:prstGeom>
          <a:solidFill>
            <a:srgbClr val="E8845A">
              <a:alpha val="20000"/>
            </a:srgbClr>
          </a:solidFill>
          <a:ln w="12700">
            <a:solidFill>
              <a:srgbClr val="E8845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8845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GUARDIAN　·　不只記錄，更會主動守護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長輩不說，暖暖也會替他說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1920240" cy="2286000"/>
          </a:xfrm>
          <a:prstGeom prst="roundRect">
            <a:avLst>
              <a:gd name="adj" fmla="val 6190"/>
            </a:avLst>
          </a:prstGeom>
          <a:solidFill>
            <a:srgbClr val="FAF5EC"/>
          </a:solidFill>
          <a:ln w="12700">
            <a:solidFill>
              <a:srgbClr val="FAF5EC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8745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21792" y="2487168"/>
            <a:ext cx="1773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暖暖天天觀察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8368" y="2880360"/>
            <a:ext cx="1700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血壓、吃藥、活動</a:t>
            </a:r>
            <a:endParaRPr lang="en-US" sz="10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每天自動巡邏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450592" y="2606040"/>
            <a:ext cx="384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845A"/>
                </a:solidFill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2798064" y="1691640"/>
            <a:ext cx="1920240" cy="2286000"/>
          </a:xfrm>
          <a:prstGeom prst="roundRect">
            <a:avLst>
              <a:gd name="adj" fmla="val 6190"/>
            </a:avLst>
          </a:prstGeom>
          <a:solidFill>
            <a:srgbClr val="FAF5EC"/>
          </a:solidFill>
          <a:ln w="12700">
            <a:solidFill>
              <a:srgbClr val="FAF5EC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798064" y="18745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⚡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2871216" y="2487168"/>
            <a:ext cx="1773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發現不對勁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07792" y="2880360"/>
            <a:ext cx="1700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血壓飆高、三天沒動靜</a:t>
            </a:r>
            <a:endParaRPr lang="en-US" sz="10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跌倒、忘記吃藥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700016" y="2606040"/>
            <a:ext cx="384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845A"/>
                </a:solidFill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047488" y="1691640"/>
            <a:ext cx="1920240" cy="2286000"/>
          </a:xfrm>
          <a:prstGeom prst="roundRect">
            <a:avLst>
              <a:gd name="adj" fmla="val 6190"/>
            </a:avLst>
          </a:prstGeom>
          <a:solidFill>
            <a:srgbClr val="FAF5EC"/>
          </a:solidFill>
          <a:ln w="12700">
            <a:solidFill>
              <a:srgbClr val="FAF5EC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047488" y="18745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📨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5120640" y="2487168"/>
            <a:ext cx="1773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立刻通知家人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157216" y="2880360"/>
            <a:ext cx="1700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子女手機馬上收到</a:t>
            </a:r>
            <a:endParaRPr lang="en-US" sz="10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完整狀況說明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949440" y="2606040"/>
            <a:ext cx="384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845A"/>
                </a:solidFill>
              </a:rPr>
              <a:t>→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7296912" y="1691640"/>
            <a:ext cx="1920240" cy="2286000"/>
          </a:xfrm>
          <a:prstGeom prst="roundRect">
            <a:avLst>
              <a:gd name="adj" fmla="val 6190"/>
            </a:avLst>
          </a:prstGeom>
          <a:solidFill>
            <a:srgbClr val="FAF5EC"/>
          </a:solidFill>
          <a:ln w="12700">
            <a:solidFill>
              <a:srgbClr val="FAF5EC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296912" y="18745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🤝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7370064" y="2487168"/>
            <a:ext cx="1773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家人及時關心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406640" y="2880360"/>
            <a:ext cx="1700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一通電話</a:t>
            </a:r>
            <a:endParaRPr lang="en-US" sz="10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就能化解危機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48640" y="4315968"/>
            <a:ext cx="8046720" cy="502920"/>
          </a:xfrm>
          <a:prstGeom prst="roundRect">
            <a:avLst>
              <a:gd name="adj" fmla="val 18182"/>
            </a:avLst>
          </a:prstGeom>
          <a:solidFill>
            <a:srgbClr val="E8845A"/>
          </a:solidFill>
          <a:ln w="12700">
            <a:solidFill>
              <a:srgbClr val="E8845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431596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跌倒偵測 · 居家感測 · 異常預警 —— 已實際上線運作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5E3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FAMILY　·　給子女的一顆定心丸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爸媽今天好嗎？打開手機就知道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3749040" cy="3063240"/>
          </a:xfrm>
          <a:prstGeom prst="roundRect">
            <a:avLst>
              <a:gd name="adj" fmla="val 4179"/>
            </a:avLst>
          </a:prstGeom>
          <a:solidFill>
            <a:srgbClr val="FFFFFF"/>
          </a:solidFill>
          <a:ln w="12700">
            <a:solidFill>
              <a:srgbClr val="E3D6C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481328"/>
            <a:ext cx="3749040" cy="566928"/>
          </a:xfrm>
          <a:prstGeom prst="rect">
            <a:avLst/>
          </a:prstGeom>
          <a:solidFill>
            <a:srgbClr val="EAF3E7"/>
          </a:solidFill>
          <a:ln w="12700">
            <a:solidFill>
              <a:srgbClr val="EAF3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481328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👵 陳美玲　</a:t>
            </a:r>
            <a:pPr indent="0" marL="0">
              <a:buNone/>
            </a:pPr>
            <a:r>
              <a:rPr lang="en-US" sz="1100" b="1" dirty="0">
                <a:solidFill>
                  <a:srgbClr val="7AA77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● 今天正常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217627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🍽️  </a:t>
            </a:r>
            <a:pPr indent="0" marL="0">
              <a:buNone/>
            </a:pPr>
            <a:r>
              <a:rPr lang="en-US" sz="1150" dirty="0">
                <a:solidFill>
                  <a:srgbClr val="A8958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飲食　</a:t>
            </a:r>
            <a:pPr indent="0" marL="0">
              <a:buNone/>
            </a:pPr>
            <a:r>
              <a:rPr lang="en-US" sz="12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已記錄 3 餐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7240" y="2596896"/>
            <a:ext cx="3291840" cy="0"/>
          </a:xfrm>
          <a:prstGeom prst="line">
            <a:avLst/>
          </a:prstGeom>
          <a:noFill/>
          <a:ln w="9525">
            <a:solidFill>
              <a:srgbClr val="E3D6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63347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💊  </a:t>
            </a:r>
            <a:pPr indent="0" marL="0">
              <a:buNone/>
            </a:pPr>
            <a:r>
              <a:rPr lang="en-US" sz="1150" dirty="0">
                <a:solidFill>
                  <a:srgbClr val="A8958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用藥　</a:t>
            </a:r>
            <a:pPr indent="0" marL="0">
              <a:buNone/>
            </a:pPr>
            <a:r>
              <a:rPr lang="en-US" sz="12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2/2 已服用 ✓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77240" y="3054096"/>
            <a:ext cx="3291840" cy="0"/>
          </a:xfrm>
          <a:prstGeom prst="line">
            <a:avLst/>
          </a:prstGeom>
          <a:noFill/>
          <a:ln w="9525">
            <a:solidFill>
              <a:srgbClr val="E3D6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09067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🩺  </a:t>
            </a:r>
            <a:pPr indent="0" marL="0">
              <a:buNone/>
            </a:pPr>
            <a:r>
              <a:rPr lang="en-US" sz="1150" dirty="0">
                <a:solidFill>
                  <a:srgbClr val="A8958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血壓　</a:t>
            </a:r>
            <a:pPr indent="0" marL="0">
              <a:buNone/>
            </a:pPr>
            <a:r>
              <a:rPr lang="en-US" sz="12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125 / 80 穩定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77240" y="3511296"/>
            <a:ext cx="3291840" cy="0"/>
          </a:xfrm>
          <a:prstGeom prst="line">
            <a:avLst/>
          </a:prstGeom>
          <a:noFill/>
          <a:ln w="9525">
            <a:solidFill>
              <a:srgbClr val="E3D6C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54787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🏠  </a:t>
            </a:r>
            <a:pPr indent="0" marL="0">
              <a:buNone/>
            </a:pPr>
            <a:r>
              <a:rPr lang="en-US" sz="1150" dirty="0">
                <a:solidFill>
                  <a:srgbClr val="A8958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居家　</a:t>
            </a:r>
            <a:pPr indent="0" marL="0">
              <a:buNone/>
            </a:pPr>
            <a:r>
              <a:rPr lang="en-US" sz="12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客廳有活動 · 26°C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3968496"/>
            <a:ext cx="3291840" cy="0"/>
          </a:xfrm>
          <a:prstGeom prst="line">
            <a:avLst/>
          </a:prstGeom>
          <a:noFill/>
          <a:ln w="9525">
            <a:solidFill>
              <a:srgbClr val="E3D6C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00507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🧭  </a:t>
            </a:r>
            <a:pPr indent="0" marL="0">
              <a:buNone/>
            </a:pPr>
            <a:r>
              <a:rPr lang="en-US" sz="1150" dirty="0">
                <a:solidFill>
                  <a:srgbClr val="A8958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幸福指數　</a:t>
            </a:r>
            <a:pPr indent="0" marL="0">
              <a:buNone/>
            </a:pPr>
            <a:r>
              <a:rPr lang="en-US" sz="12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78 分（↑3）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663440" y="1618488"/>
            <a:ext cx="384048" cy="384048"/>
          </a:xfrm>
          <a:prstGeom prst="ellipse">
            <a:avLst/>
          </a:prstGeom>
          <a:solidFill>
            <a:srgbClr val="E8845A"/>
          </a:solidFill>
          <a:ln w="12700">
            <a:solidFill>
              <a:srgbClr val="E884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6344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193792" y="16002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遠端就能看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193792" y="1965960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子女在自己手機上，隨時看到爸媽的飲食、用藥、血壓與居家狀況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663440" y="2606040"/>
            <a:ext cx="384048" cy="384048"/>
          </a:xfrm>
          <a:prstGeom prst="ellipse">
            <a:avLst/>
          </a:prstGeom>
          <a:solidFill>
            <a:srgbClr val="E8845A"/>
          </a:solidFill>
          <a:ln w="12700">
            <a:solidFill>
              <a:srgbClr val="E8845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606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193792" y="258775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異常主動報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193792" y="2953512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有狀況第一時間通知，不用天天奪命連環 call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663440" y="3593592"/>
            <a:ext cx="384048" cy="384048"/>
          </a:xfrm>
          <a:prstGeom prst="ellipse">
            <a:avLst/>
          </a:prstGeom>
          <a:solidFill>
            <a:srgbClr val="E8845A"/>
          </a:solidFill>
          <a:ln w="12700">
            <a:solidFill>
              <a:srgbClr val="E8845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63440" y="3593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193792" y="3575304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隱私長輩管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193792" y="3941064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看得到什麼，由長輩自己決定；尊重是關懷的前提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663440" y="455371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95E3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「不是監視，是讓關心剛剛好。」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949440" y="47731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958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nuan55.com　·　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0" y="4023360"/>
            <a:ext cx="4023360" cy="4023360"/>
          </a:xfrm>
          <a:prstGeom prst="ellipse">
            <a:avLst/>
          </a:prstGeom>
          <a:ln w="12700">
            <a:solidFill>
              <a:srgbClr val="E8B694">
                <a:alpha val="4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737360" y="3200400"/>
            <a:ext cx="5669280" cy="5669280"/>
          </a:xfrm>
          <a:prstGeom prst="ellipse">
            <a:avLst/>
          </a:prstGeom>
          <a:ln w="12700">
            <a:solidFill>
              <a:srgbClr val="E8B694">
                <a:alpha val="3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2286000"/>
            <a:ext cx="7498080" cy="7498080"/>
          </a:xfrm>
          <a:prstGeom prst="ellipse">
            <a:avLst/>
          </a:prstGeom>
          <a:ln w="12700">
            <a:solidFill>
              <a:srgbClr val="E8B694">
                <a:alpha val="2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182880" y="1280160"/>
            <a:ext cx="9509760" cy="9509760"/>
          </a:xfrm>
          <a:prstGeom prst="ellipse">
            <a:avLst/>
          </a:prstGeom>
          <a:ln w="12700">
            <a:solidFill>
              <a:srgbClr val="E8B694">
                <a:alpha val="18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5E3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START　·　今天就開始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58368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三步驟，馬上開始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548640" y="1554480"/>
            <a:ext cx="2286000" cy="237744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E3D6C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417320" y="1298448"/>
            <a:ext cx="548640" cy="548640"/>
          </a:xfrm>
          <a:prstGeom prst="ellipse">
            <a:avLst/>
          </a:prstGeom>
          <a:solidFill>
            <a:srgbClr val="C95E36"/>
          </a:solidFill>
          <a:ln w="31750">
            <a:solidFill>
              <a:srgbClr val="FAF5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1298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20574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🌐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40080" y="269748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打開網址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1520" y="31089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手機瀏覽器輸入</a:t>
            </a:r>
            <a:endParaRPr lang="en-US" sz="12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nuan55.com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834640" y="2468880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8845A"/>
                </a:solidFill>
              </a:rPr>
              <a:t>→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3429000" y="1554480"/>
            <a:ext cx="2286000" cy="237744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E3D6C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297680" y="1298448"/>
            <a:ext cx="548640" cy="548640"/>
          </a:xfrm>
          <a:prstGeom prst="ellipse">
            <a:avLst/>
          </a:prstGeom>
          <a:solidFill>
            <a:srgbClr val="C95E36"/>
          </a:solidFill>
          <a:ln w="31750">
            <a:solidFill>
              <a:srgbClr val="FAF5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97680" y="1298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3429000" y="20574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🔑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3520440" y="269748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簡單登入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3611880" y="31089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Google 或 Email</a:t>
            </a:r>
            <a:endParaRPr lang="en-US" sz="12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免記密碼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715000" y="2468880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8845A"/>
                </a:solidFill>
              </a:rPr>
              <a:t>→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6309360" y="1554480"/>
            <a:ext cx="2286000" cy="237744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E3D6C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178040" y="1298448"/>
            <a:ext cx="548640" cy="548640"/>
          </a:xfrm>
          <a:prstGeom prst="ellipse">
            <a:avLst/>
          </a:prstGeom>
          <a:solidFill>
            <a:srgbClr val="C95E36"/>
          </a:solidFill>
          <a:ln w="31750">
            <a:solidFill>
              <a:srgbClr val="FAF5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78040" y="1298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6309360" y="20574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📷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6400800" y="269748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拍第一張照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6492240" y="31089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拍下這一餐</a:t>
            </a:r>
            <a:endParaRPr lang="en-US" sz="12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暖暖開始陪伴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48640" y="422452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💡 子女幫爸媽設定一次，</a:t>
            </a:r>
            <a:pPr algn="ctr" indent="0" marL="0">
              <a:buNone/>
            </a:pPr>
            <a:r>
              <a:rPr lang="en-US" sz="1400" b="1" dirty="0">
                <a:solidFill>
                  <a:srgbClr val="C95E3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之後長輩自己就會用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48640" y="46177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958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免費開始使用　·　不需信用卡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0" y="914400"/>
            <a:ext cx="2743200" cy="2743200"/>
          </a:xfrm>
          <a:prstGeom prst="ellipse">
            <a:avLst/>
          </a:prstGeom>
          <a:ln w="12700">
            <a:solidFill>
              <a:srgbClr val="E8B694">
                <a:alpha val="4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0" y="274320"/>
            <a:ext cx="4023360" cy="4023360"/>
          </a:xfrm>
          <a:prstGeom prst="ellipse">
            <a:avLst/>
          </a:prstGeom>
          <a:ln w="12700">
            <a:solidFill>
              <a:srgbClr val="E8B694">
                <a:alpha val="4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28800" y="-457200"/>
            <a:ext cx="5486400" cy="5486400"/>
          </a:xfrm>
          <a:prstGeom prst="ellipse">
            <a:avLst/>
          </a:prstGeom>
          <a:ln w="12700">
            <a:solidFill>
              <a:srgbClr val="E8B694">
                <a:alpha val="3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-1280160"/>
            <a:ext cx="7132320" cy="7132320"/>
          </a:xfrm>
          <a:prstGeom prst="ellipse">
            <a:avLst/>
          </a:prstGeom>
          <a:ln w="12700">
            <a:solidFill>
              <a:srgbClr val="E8B694">
                <a:alpha val="2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" y="-2194560"/>
            <a:ext cx="8961120" cy="8961120"/>
          </a:xfrm>
          <a:prstGeom prst="ellipse">
            <a:avLst/>
          </a:prstGeom>
          <a:ln w="12700">
            <a:solidFill>
              <a:srgbClr val="E8B694">
                <a:alpha val="16000"/>
              </a:srgbClr>
            </a:solidFill>
            <a:prstDash val="solid"/>
          </a:ln>
        </p:spPr>
      </p:sp>
      <p:pic>
        <p:nvPicPr>
          <p:cNvPr id="7" name="Image 0" descr="/Users/hanschung/Desktop/55/public/icon-maskable-5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49040" y="685800"/>
            <a:ext cx="1645920" cy="16459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0" y="2487168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spc="600" kern="0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讓關心，剛剛好</a:t>
            </a:r>
            <a:endParaRPr lang="en-US" sz="4000" dirty="0"/>
          </a:p>
        </p:txBody>
      </p:sp>
      <p:sp>
        <p:nvSpPr>
          <p:cNvPr id="9" name="Text 6"/>
          <p:cNvSpPr/>
          <p:nvPr/>
        </p:nvSpPr>
        <p:spPr>
          <a:xfrm>
            <a:off x="0" y="331012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暖暖 NuanNuan　·　陪 55+ 健康變老的 AI 管家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108960" y="388620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E8845A"/>
          </a:solidFill>
          <a:ln w="12700">
            <a:solidFill>
              <a:srgbClr val="E8845A"/>
            </a:solidFill>
            <a:prstDash val="solid"/>
          </a:ln>
          <a:effectLst>
            <a:outerShdw sx="100000" sy="100000" kx="0" ky="0" algn="bl" rotWithShape="0" blurRad="127000" dist="38100" dir="5400000">
              <a:srgbClr val="C95E36">
                <a:alpha val="3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3108960" y="388620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spc="100" kern="0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nuan55.com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0" y="468172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8958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合作洽詢　sunboy1120@gmail.com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暖暖 NuanNuan - 宣傳簡報</dc:title>
  <dc:subject>PptxGenJS Presentation</dc:subject>
  <dc:creator>NuanNuan</dc:creator>
  <cp:lastModifiedBy>NuanNuan</cp:lastModifiedBy>
  <cp:revision>1</cp:revision>
  <dcterms:created xsi:type="dcterms:W3CDTF">2026-08-06T12:52:27Z</dcterms:created>
  <dcterms:modified xsi:type="dcterms:W3CDTF">2026-08-06T12:52:27Z</dcterms:modified>
</cp:coreProperties>
</file>