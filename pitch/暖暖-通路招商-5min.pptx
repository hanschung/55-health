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828800"/>
            <a:ext cx="4572000" cy="4572000"/>
          </a:xfrm>
          <a:prstGeom prst="ellipse">
            <a:avLst/>
          </a:prstGeom>
          <a:solidFill>
            <a:srgbClr val="E8845A">
              <a:alpha val="30000"/>
            </a:srgbClr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-914400"/>
            <a:ext cx="2743200" cy="2743200"/>
          </a:xfrm>
          <a:prstGeom prst="ellipse">
            <a:avLst/>
          </a:prstGeom>
          <a:solidFill>
            <a:srgbClr val="C95E36">
              <a:alpha val="40000"/>
            </a:srgbClr>
          </a:solidFill>
          <a:ln w="12700">
            <a:solidFill>
              <a:srgbClr val="C95E3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114800"/>
            <a:ext cx="2286000" cy="2286000"/>
          </a:xfrm>
          <a:prstGeom prst="ellipse">
            <a:avLst/>
          </a:prstGeom>
          <a:solidFill>
            <a:srgbClr val="F2E8D5"/>
          </a:solidFill>
          <a:ln w="12700">
            <a:solidFill>
              <a:srgbClr val="F2E8D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486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dirty="0">
                <a:solidFill>
                  <a:srgbClr val="000000"/>
                </a:solidFill>
              </a:rPr>
              <a:t>🐻</a:t>
            </a:r>
            <a:endParaRPr lang="en-US" sz="80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暖暖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548640" y="27432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陪 55+ 健康變老的 AI 管家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48640" y="3246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拍照記錄．拍藥袋．AI 語音陪伴．家人共享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C95E36"/>
          </a:solidFill>
          <a:ln w="12700">
            <a:solidFill>
              <a:srgbClr val="C95E3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4617720"/>
            <a:ext cx="8229600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🌐 nuan55.com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     |  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鍾志鴻 Hans Chung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     |     </a:t>
            </a:r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創辦人 Founder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0" y="42062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958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通路招商簡報   |  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PROBLEM   |   為什麼台灣需要暖暖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台灣老化來得又快又猛，但工具沒跟上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606040" cy="274320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31620" y="1691640"/>
            <a:ext cx="640080" cy="640080"/>
          </a:xfrm>
          <a:prstGeom prst="ellipse">
            <a:avLst/>
          </a:prstGeom>
          <a:solidFill>
            <a:srgbClr val="FCE4D5"/>
          </a:solidFill>
          <a:ln w="12700">
            <a:solidFill>
              <a:srgbClr val="FCE4D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5316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60" dirty="0">
                <a:solidFill>
                  <a:srgbClr val="00000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📊</a:t>
            </a:r>
            <a:endParaRPr lang="en-US" sz="1960" dirty="0"/>
          </a:p>
        </p:txBody>
      </p:sp>
      <p:sp>
        <p:nvSpPr>
          <p:cNvPr id="7" name="Text 5"/>
          <p:cNvSpPr/>
          <p:nvPr/>
        </p:nvSpPr>
        <p:spPr>
          <a:xfrm>
            <a:off x="548640" y="246888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20.8%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731520" y="33375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2025 台灣 65+ 人口占比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37033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正式進入「超高齡社會」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83280" y="1463040"/>
            <a:ext cx="2606040" cy="274320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66260" y="1691640"/>
            <a:ext cx="640080" cy="640080"/>
          </a:xfrm>
          <a:prstGeom prst="ellipse">
            <a:avLst/>
          </a:prstGeom>
          <a:solidFill>
            <a:srgbClr val="F4D7DC"/>
          </a:solidFill>
          <a:ln w="12700">
            <a:solidFill>
              <a:srgbClr val="F4D7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662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60" dirty="0">
                <a:solidFill>
                  <a:srgbClr val="00000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💊</a:t>
            </a:r>
            <a:endParaRPr lang="en-US" sz="1960" dirty="0"/>
          </a:p>
        </p:txBody>
      </p:sp>
      <p:sp>
        <p:nvSpPr>
          <p:cNvPr id="13" name="Text 11"/>
          <p:cNvSpPr/>
          <p:nvPr/>
        </p:nvSpPr>
        <p:spPr>
          <a:xfrm>
            <a:off x="3383280" y="246888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C95B6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78%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3566160" y="33375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子女最擔心爸媽「亂吃藥」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566160" y="37033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想關心卻幫不上忙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1463040"/>
            <a:ext cx="2606040" cy="274320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200900" y="1691640"/>
            <a:ext cx="640080" cy="640080"/>
          </a:xfrm>
          <a:prstGeom prst="ellipse">
            <a:avLst/>
          </a:prstGeom>
          <a:solidFill>
            <a:srgbClr val="F6E8C2"/>
          </a:solidFill>
          <a:ln w="12700">
            <a:solidFill>
              <a:srgbClr val="F6E8C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0090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60" dirty="0">
                <a:solidFill>
                  <a:srgbClr val="00000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📱</a:t>
            </a:r>
            <a:endParaRPr lang="en-US" sz="1960" dirty="0"/>
          </a:p>
        </p:txBody>
      </p:sp>
      <p:sp>
        <p:nvSpPr>
          <p:cNvPr id="19" name="Text 17"/>
          <p:cNvSpPr/>
          <p:nvPr/>
        </p:nvSpPr>
        <p:spPr>
          <a:xfrm>
            <a:off x="6217920" y="246888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D9A441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&lt; 5%</a:t>
            </a:r>
            <a:endParaRPr lang="en-US" sz="5400" dirty="0"/>
          </a:p>
        </p:txBody>
      </p:sp>
      <p:sp>
        <p:nvSpPr>
          <p:cNvPr id="20" name="Text 18"/>
          <p:cNvSpPr/>
          <p:nvPr/>
        </p:nvSpPr>
        <p:spPr>
          <a:xfrm>
            <a:off x="6400800" y="33375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現有健康 App 七日留存率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0" y="37033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字太小、難用、長輩棄用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434840"/>
            <a:ext cx="8046720" cy="502920"/>
          </a:xfrm>
          <a:prstGeom prst="roundRect">
            <a:avLst>
              <a:gd name="adj" fmla="val 18182"/>
            </a:avLst>
          </a:prstGeom>
          <a:solidFill>
            <a:srgbClr val="3D2E20"/>
          </a:solidFill>
          <a:ln w="12700">
            <a:solidFill>
              <a:srgbClr val="3D2E2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44348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有需求、有錢、但沒有對的工具 — 這就是暖暖的市場機會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SOLUTION   |   暖暖如何解決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一台手機．三個動作．長輩自己就能用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606040" cy="210312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31620" y="1645920"/>
            <a:ext cx="640080" cy="640080"/>
          </a:xfrm>
          <a:prstGeom prst="ellipse">
            <a:avLst/>
          </a:prstGeom>
          <a:solidFill>
            <a:srgbClr val="FCE4D5"/>
          </a:solidFill>
          <a:ln w="12700">
            <a:solidFill>
              <a:srgbClr val="FCE4D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53162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60" dirty="0">
                <a:solidFill>
                  <a:srgbClr val="00000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📷</a:t>
            </a:r>
            <a:endParaRPr lang="en-US" sz="1960" dirty="0"/>
          </a:p>
        </p:txBody>
      </p:sp>
      <p:sp>
        <p:nvSpPr>
          <p:cNvPr id="7" name="Text 5"/>
          <p:cNvSpPr/>
          <p:nvPr/>
        </p:nvSpPr>
        <p:spPr>
          <a:xfrm>
            <a:off x="685800" y="2377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拍照記錄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拍一張菜 → AI 自動算熱量、營養、提醒少鹽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2461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8958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操作時間 &lt; 5 秒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280" y="1463040"/>
            <a:ext cx="2606040" cy="210312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66260" y="1645920"/>
            <a:ext cx="640080" cy="640080"/>
          </a:xfrm>
          <a:prstGeom prst="ellipse">
            <a:avLst/>
          </a:prstGeom>
          <a:solidFill>
            <a:srgbClr val="F4D7DC"/>
          </a:solidFill>
          <a:ln w="12700">
            <a:solidFill>
              <a:srgbClr val="F4D7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6626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60" dirty="0">
                <a:solidFill>
                  <a:srgbClr val="00000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💊</a:t>
            </a:r>
            <a:endParaRPr lang="en-US" sz="1960" dirty="0"/>
          </a:p>
        </p:txBody>
      </p:sp>
      <p:sp>
        <p:nvSpPr>
          <p:cNvPr id="13" name="Text 11"/>
          <p:cNvSpPr/>
          <p:nvPr/>
        </p:nvSpPr>
        <p:spPr>
          <a:xfrm>
            <a:off x="3520440" y="2377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拍藥袋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566160" y="27432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拍藥袋 → 自動讀出藥名、用法、設定提醒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566160" y="32461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8958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省下找眼鏡時間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17920" y="1463040"/>
            <a:ext cx="2606040" cy="210312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17920" y="1463040"/>
            <a:ext cx="73152" cy="2103120"/>
          </a:xfrm>
          <a:prstGeom prst="rect">
            <a:avLst/>
          </a:prstGeom>
          <a:solidFill>
            <a:srgbClr val="C95E36"/>
          </a:solidFill>
          <a:ln w="12700">
            <a:solidFill>
              <a:srgbClr val="C95E3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38160" y="1572768"/>
            <a:ext cx="594360" cy="256032"/>
          </a:xfrm>
          <a:prstGeom prst="roundRect">
            <a:avLst>
              <a:gd name="adj" fmla="val 14286"/>
            </a:avLst>
          </a:prstGeom>
          <a:solidFill>
            <a:srgbClr val="C95E36"/>
          </a:solidFill>
          <a:ln w="12700">
            <a:solidFill>
              <a:srgbClr val="C95E3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38160" y="1572768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獨家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200900" y="1645920"/>
            <a:ext cx="640080" cy="640080"/>
          </a:xfrm>
          <a:prstGeom prst="ellipse">
            <a:avLst/>
          </a:prstGeom>
          <a:solidFill>
            <a:srgbClr val="E5EFE2"/>
          </a:solidFill>
          <a:ln w="12700">
            <a:solidFill>
              <a:srgbClr val="E5EFE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0090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60" dirty="0">
                <a:solidFill>
                  <a:srgbClr val="00000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🎙️</a:t>
            </a:r>
            <a:endParaRPr lang="en-US" sz="1960" dirty="0"/>
          </a:p>
        </p:txBody>
      </p:sp>
      <p:sp>
        <p:nvSpPr>
          <p:cNvPr id="22" name="Text 20"/>
          <p:cNvSpPr/>
          <p:nvPr/>
        </p:nvSpPr>
        <p:spPr>
          <a:xfrm>
            <a:off x="6355080" y="2377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語音陪伴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400800" y="27432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認得名字、記得慢性病 — 3 種人格可選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0" y="32461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像家人 · 像護理師 · 像小孫子撒嬌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3749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為長輩量身設計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48640" y="4160520"/>
            <a:ext cx="1554480" cy="411480"/>
          </a:xfrm>
          <a:prstGeom prst="roundRect">
            <a:avLst>
              <a:gd name="adj" fmla="val 48889"/>
            </a:avLst>
          </a:prstGeom>
          <a:solidFill>
            <a:srgbClr val="E8845A"/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41605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字超大 26pt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286000" y="4160520"/>
            <a:ext cx="1554480" cy="411480"/>
          </a:xfrm>
          <a:prstGeom prst="roundRect">
            <a:avLst>
              <a:gd name="adj" fmla="val 48889"/>
            </a:avLst>
          </a:prstGeom>
          <a:solidFill>
            <a:srgbClr val="E8845A"/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86000" y="41605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一鍵操作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749040" y="4160520"/>
            <a:ext cx="1554480" cy="411480"/>
          </a:xfrm>
          <a:prstGeom prst="roundRect">
            <a:avLst>
              <a:gd name="adj" fmla="val 48889"/>
            </a:avLst>
          </a:prstGeom>
          <a:solidFill>
            <a:srgbClr val="E8845A"/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49040" y="41605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免下載 App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486400" y="4160520"/>
            <a:ext cx="1554480" cy="411480"/>
          </a:xfrm>
          <a:prstGeom prst="roundRect">
            <a:avLst>
              <a:gd name="adj" fmla="val 48889"/>
            </a:avLst>
          </a:prstGeom>
          <a:solidFill>
            <a:srgbClr val="E8845A"/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0" y="41605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家人共享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040880" y="4160520"/>
            <a:ext cx="1554480" cy="411480"/>
          </a:xfrm>
          <a:prstGeom prst="roundRect">
            <a:avLst>
              <a:gd name="adj" fmla="val 48889"/>
            </a:avLst>
          </a:prstGeom>
          <a:solidFill>
            <a:srgbClr val="E8845A"/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040880" y="41605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中文語音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48640" y="4709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AA77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✨ 已上線運作 · nuan55.com 立即可試用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D2E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7315200" cy="7315200"/>
          </a:xfrm>
          <a:prstGeom prst="ellipse">
            <a:avLst/>
          </a:prstGeom>
          <a:solidFill>
            <a:srgbClr val="E8845A">
              <a:alpha val="20000"/>
            </a:srgbClr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914400"/>
            <a:ext cx="6400800" cy="6400800"/>
          </a:xfrm>
          <a:prstGeom prst="ellipse">
            <a:avLst/>
          </a:prstGeom>
          <a:solidFill>
            <a:srgbClr val="C95E36">
              <a:alpha val="25000"/>
            </a:srgbClr>
          </a:solidFill>
          <a:ln w="12700">
            <a:solidFill>
              <a:srgbClr val="C95E3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0" y="1463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800" kern="0" dirty="0">
                <a:solidFill>
                  <a:srgbClr val="E8845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LIVE DEMO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0" y="2011680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90 秒</a:t>
            </a:r>
            <a:endParaRPr lang="en-US" sz="11000" dirty="0"/>
          </a:p>
        </p:txBody>
      </p:sp>
      <p:sp>
        <p:nvSpPr>
          <p:cNvPr id="6" name="Text 4"/>
          <p:cNvSpPr/>
          <p:nvPr/>
        </p:nvSpPr>
        <p:spPr>
          <a:xfrm>
            <a:off x="0" y="33832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2E8D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實機操作 — 看長輩怎麼用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0" y="41148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AF5EC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📷 拍照記錄  →  💊 拍藥袋  →  🎙️ 語音對話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0" y="45720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8958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nuan55.com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DIFFERENTIATION   |   為什麼不直接用 Gemini / ChatGPT？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Gemini 是引擎，暖暖是整台車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引擎再強，沒有方向盤、座椅、安全氣囊 — 長輩不會開、也不敢開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4023360" cy="411480"/>
          </a:xfrm>
          <a:prstGeom prst="roundRect">
            <a:avLst>
              <a:gd name="adj" fmla="val 17778"/>
            </a:avLst>
          </a:prstGeom>
          <a:solidFill>
            <a:srgbClr val="A89580"/>
          </a:solidFill>
          <a:ln w="12700">
            <a:solidFill>
              <a:srgbClr val="A895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9164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直接用 Gemini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691640"/>
            <a:ext cx="3840480" cy="411480"/>
          </a:xfrm>
          <a:prstGeom prst="roundRect">
            <a:avLst>
              <a:gd name="adj" fmla="val 17778"/>
            </a:avLst>
          </a:prstGeom>
          <a:solidFill>
            <a:srgbClr val="C95E36"/>
          </a:solidFill>
          <a:ln w="12700">
            <a:solidFill>
              <a:srgbClr val="C95E3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0" y="16916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🐻  用暖暖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240280"/>
            <a:ext cx="40233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0" y="2240280"/>
            <a:ext cx="3840480" cy="548640"/>
          </a:xfrm>
          <a:prstGeom prst="rect">
            <a:avLst/>
          </a:prstGeom>
          <a:solidFill>
            <a:srgbClr val="FDF1E8"/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069080" y="2368296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3D2E20"/>
          </a:solidFill>
          <a:ln w="12700">
            <a:solidFill>
              <a:srgbClr val="3D2E2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69080" y="236829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怎麼操作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31520" y="2240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打字下 prompt、上傳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212080" y="2240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拍一下、按確認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2834640"/>
            <a:ext cx="40233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54880" y="2834640"/>
            <a:ext cx="3840480" cy="548640"/>
          </a:xfrm>
          <a:prstGeom prst="rect">
            <a:avLst/>
          </a:prstGeom>
          <a:solidFill>
            <a:srgbClr val="FDF1E8"/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69080" y="2962656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3D2E20"/>
          </a:solidFill>
          <a:ln w="12700">
            <a:solidFill>
              <a:srgbClr val="3D2E2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69080" y="296265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歷史紀錄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31520" y="28346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❌  沒辦法存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212080" y="28346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✅  自動進飲食日記 + 趨勢圖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3429000"/>
            <a:ext cx="40233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54880" y="3429000"/>
            <a:ext cx="3840480" cy="548640"/>
          </a:xfrm>
          <a:prstGeom prst="rect">
            <a:avLst/>
          </a:prstGeom>
          <a:solidFill>
            <a:srgbClr val="FDF1E8"/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69080" y="3557016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3D2E20"/>
          </a:solidFill>
          <a:ln w="12700">
            <a:solidFill>
              <a:srgbClr val="3D2E2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69080" y="355701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個人化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31520" y="34290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每次從零，不記得你慢性病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212080" y="34290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✅  記得高血壓 → 客製建議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48640" y="4023360"/>
            <a:ext cx="40233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54880" y="4023360"/>
            <a:ext cx="3840480" cy="548640"/>
          </a:xfrm>
          <a:prstGeom prst="rect">
            <a:avLst/>
          </a:prstGeom>
          <a:solidFill>
            <a:srgbClr val="FDF1E8"/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069080" y="4151376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3D2E20"/>
          </a:solidFill>
          <a:ln w="12700">
            <a:solidFill>
              <a:srgbClr val="3D2E2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69080" y="415137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家人共享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31520" y="40233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❌  完全沒有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212080" y="40233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✅  子女遠端看吃藥/飲食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48640" y="4572000"/>
            <a:ext cx="8046720" cy="502920"/>
          </a:xfrm>
          <a:prstGeom prst="roundRect">
            <a:avLst>
              <a:gd name="adj" fmla="val 21818"/>
            </a:avLst>
          </a:prstGeom>
          <a:solidFill>
            <a:srgbClr val="3D2E20"/>
          </a:solidFill>
          <a:ln w="12700">
            <a:solidFill>
              <a:srgbClr val="3D2E2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45720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暖暖的護城河不是 AI 模型 — 是「把 AI 用對的 6 個月 know-how」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PARTNERSHIP   |   三種彈性合作模式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依您的需求三選一．可混搭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606040" cy="31089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417320"/>
            <a:ext cx="2606040" cy="457200"/>
          </a:xfrm>
          <a:prstGeom prst="rect">
            <a:avLst/>
          </a:prstGeom>
          <a:solidFill>
            <a:srgbClr val="E8845A"/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463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最簡單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0116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🤝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731520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聯名推廣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1097280" y="3017520"/>
            <a:ext cx="1508760" cy="0"/>
          </a:xfrm>
          <a:prstGeom prst="line">
            <a:avLst/>
          </a:prstGeom>
          <a:noFill/>
          <a:ln w="12700">
            <a:solidFill>
              <a:srgbClr val="EDE3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10896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您：在通路曝光 / 推薦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3474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845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30%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31520" y="39319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958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訂閱分潤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051560" y="420624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2E8D5"/>
          </a:solidFill>
          <a:ln w="12700">
            <a:solidFill>
              <a:srgbClr val="F2E8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4206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⏱  1 週上線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383280" y="1417320"/>
            <a:ext cx="2606040" cy="31089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383280" y="1417320"/>
            <a:ext cx="2606040" cy="457200"/>
          </a:xfrm>
          <a:prstGeom prst="rect">
            <a:avLst/>
          </a:prstGeom>
          <a:solidFill>
            <a:srgbClr val="C95E36"/>
          </a:solidFill>
          <a:ln w="12700">
            <a:solidFill>
              <a:srgbClr val="C95E3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66160" y="1463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做自有品牌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566160" y="20116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🏷️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3566160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白標客製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3931920" y="3017520"/>
            <a:ext cx="1508760" cy="0"/>
          </a:xfrm>
          <a:prstGeom prst="line">
            <a:avLst/>
          </a:prstGeom>
          <a:noFill/>
          <a:ln w="12700">
            <a:solidFill>
              <a:srgbClr val="EDE3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66160" y="310896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您：定義品牌與通路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566160" y="3474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月費 + 分潤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3566160" y="39319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958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雙重收入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886200" y="420624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2E8D5"/>
          </a:solidFill>
          <a:ln w="12700">
            <a:solidFill>
              <a:srgbClr val="F2E8D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86200" y="4206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⏱  1 個月上線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217920" y="1417320"/>
            <a:ext cx="2606040" cy="31089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217920" y="1417320"/>
            <a:ext cx="2606040" cy="457200"/>
          </a:xfrm>
          <a:prstGeom prst="rect">
            <a:avLst/>
          </a:prstGeom>
          <a:solidFill>
            <a:srgbClr val="3D2E20"/>
          </a:solidFill>
          <a:ln w="12700">
            <a:solidFill>
              <a:srgbClr val="3D2E2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0" y="1463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適合大型通路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00800" y="20116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🔌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6400800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API/SDK 整合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766560" y="3017520"/>
            <a:ext cx="1508760" cy="0"/>
          </a:xfrm>
          <a:prstGeom prst="line">
            <a:avLst/>
          </a:prstGeom>
          <a:noFill/>
          <a:ln w="12700">
            <a:solidFill>
              <a:srgbClr val="EDE3D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0" y="310896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您：嵌入既有 App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0" y="3474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省成本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6400800" y="39319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958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按用量計費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720840" y="420624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2E8D5"/>
          </a:solidFill>
          <a:ln w="12700">
            <a:solidFill>
              <a:srgbClr val="F2E8D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20840" y="4206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⏱  2 個月上線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48640" y="4709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👉  具體合約條款與細節價格，留待下週深度會議討論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D2E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2286000"/>
            <a:ext cx="6400800" cy="6400800"/>
          </a:xfrm>
          <a:prstGeom prst="ellipse">
            <a:avLst/>
          </a:prstGeom>
          <a:solidFill>
            <a:srgbClr val="C95E36">
              <a:alpha val="20000"/>
            </a:srgbClr>
          </a:solidFill>
          <a:ln w="12700">
            <a:solidFill>
              <a:srgbClr val="C95E3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-2286000"/>
            <a:ext cx="5486400" cy="5486400"/>
          </a:xfrm>
          <a:prstGeom prst="ellipse">
            <a:avLst/>
          </a:prstGeom>
          <a:solidFill>
            <a:srgbClr val="E8845A">
              <a:alpha val="18000"/>
            </a:srgbClr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8845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VISION   |   不只記錄，而是主動守護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858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從「健康記錄」到「主動守護」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2E8D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我們做的不是健康 App，是讓子女安心的 AI 守護者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2606040" cy="2286000"/>
          </a:xfrm>
          <a:prstGeom prst="roundRect">
            <a:avLst>
              <a:gd name="adj" fmla="val 6000"/>
            </a:avLst>
          </a:prstGeom>
          <a:solidFill>
            <a:srgbClr val="FAF5EC"/>
          </a:solidFill>
          <a:ln w="12700">
            <a:solidFill>
              <a:srgbClr val="FAF5E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2057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7AA779"/>
          </a:solidFill>
          <a:ln w="12700">
            <a:solidFill>
              <a:srgbClr val="7AA77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0574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✅ 已上線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26060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異常預警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777240" y="31089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血壓飆高、3 天失聯、漏吃藥 → 自動 email 通知子女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383280" y="1828800"/>
            <a:ext cx="2606040" cy="2286000"/>
          </a:xfrm>
          <a:prstGeom prst="roundRect">
            <a:avLst>
              <a:gd name="adj" fmla="val 6000"/>
            </a:avLst>
          </a:prstGeom>
          <a:solidFill>
            <a:srgbClr val="FAF5EC"/>
          </a:solidFill>
          <a:ln w="12700">
            <a:solidFill>
              <a:srgbClr val="FAF5E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11880" y="2057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11880" y="20574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開發中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11880" y="26060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語音週報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3611880" y="31089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每週用溫暖語音，向子女回報爸媽近況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17920" y="1828800"/>
            <a:ext cx="2606040" cy="2286000"/>
          </a:xfrm>
          <a:prstGeom prst="roundRect">
            <a:avLst>
              <a:gd name="adj" fmla="val 6000"/>
            </a:avLst>
          </a:prstGeom>
          <a:solidFill>
            <a:srgbClr val="FAF5EC"/>
          </a:solidFill>
          <a:ln w="12700">
            <a:solidFill>
              <a:srgbClr val="FAF5E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46520" y="2057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A89580"/>
          </a:solidFill>
          <a:ln w="12700">
            <a:solidFill>
              <a:srgbClr val="A895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46520" y="20574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藍圖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46520" y="26060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主動關懷來電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6446520" y="31089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暖暖每天主動「打給」長輩問候、提醒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4434840"/>
            <a:ext cx="8046720" cy="502920"/>
          </a:xfrm>
          <a:prstGeom prst="roundRect">
            <a:avLst>
              <a:gd name="adj" fmla="val 21818"/>
            </a:avLst>
          </a:prstGeom>
          <a:solidFill>
            <a:srgbClr val="E8845A"/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44348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早期合作的夥伴，會一起參與這個守護藍圖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WHY US   |   為什麼選擇暖暖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4 個對通路夥伴的具體好處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977640" cy="118872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417320"/>
            <a:ext cx="73152" cy="1188720"/>
          </a:xfrm>
          <a:prstGeom prst="rect">
            <a:avLst/>
          </a:prstGeom>
          <a:solidFill>
            <a:srgbClr val="7AA779"/>
          </a:solidFill>
          <a:ln w="12700">
            <a:solidFill>
              <a:srgbClr val="7AA77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💰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463040" y="16002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新增訂閱分潤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20574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客戶持續訂閱、您持續拿分潤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17720" y="1417320"/>
            <a:ext cx="3977640" cy="118872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17720" y="1417320"/>
            <a:ext cx="73152" cy="1188720"/>
          </a:xfrm>
          <a:prstGeom prst="rect">
            <a:avLst/>
          </a:prstGeom>
          <a:solidFill>
            <a:srgbClr val="E8845A"/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🔒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5532120" y="16002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提升客戶黏著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532120" y="20574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每天打開 = 持續品牌觸及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97480"/>
            <a:ext cx="3977640" cy="118872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2697480"/>
            <a:ext cx="73152" cy="1188720"/>
          </a:xfrm>
          <a:prstGeom prst="rect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2971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📊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1463040" y="28803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合法健康數據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63040" y="33375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用於行銷再優化，符合個資法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17720" y="2697480"/>
            <a:ext cx="3977640" cy="118872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17720" y="2697480"/>
            <a:ext cx="73152" cy="1188720"/>
          </a:xfrm>
          <a:prstGeom prst="rect">
            <a:avLst/>
          </a:prstGeom>
          <a:solidFill>
            <a:srgbClr val="C95B6E"/>
          </a:solidFill>
          <a:ln w="12700">
            <a:solidFill>
              <a:srgbClr val="C95B6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2971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🎁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5532120" y="28803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您完全不用開發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532120" y="33375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產品 + 技術 + 客服我們全包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069080"/>
            <a:ext cx="8046720" cy="868680"/>
          </a:xfrm>
          <a:prstGeom prst="roundRect">
            <a:avLst>
              <a:gd name="adj" fmla="val 18947"/>
            </a:avLst>
          </a:prstGeom>
          <a:solidFill>
            <a:srgbClr val="C95E36"/>
          </a:solidFill>
          <a:ln w="12700">
            <a:solidFill>
              <a:srgbClr val="C95E3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406908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換名片  →  下週深度會議  →  給您試用帳號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48640" y="4526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AF5EC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🌐  nuan55.com    |    📧  sunboy1120@gmail.com    |    🐻  鍾志鴻 Hans Chung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暖暖 NuanNuan - 通路招商簡報</dc:title>
  <dc:subject>PptxGenJS Presentation</dc:subject>
  <dc:creator>Hans Chung</dc:creator>
  <cp:lastModifiedBy>Hans Chung</cp:lastModifiedBy>
  <cp:revision>1</cp:revision>
  <dcterms:created xsi:type="dcterms:W3CDTF">2026-06-03T15:10:23Z</dcterms:created>
  <dcterms:modified xsi:type="dcterms:W3CDTF">2026-06-03T15:10:23Z</dcterms:modified>
</cp:coreProperties>
</file>